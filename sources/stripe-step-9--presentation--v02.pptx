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déplacer la diapo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2F694E8-3CD3-4444-93BD-A340ACCE4A7C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6E98D2C-C96B-43D7-AA01-064A775A19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E17DB4C-299A-434D-9B5E-328B5439D9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AC20C8-595E-4201-B4B2-B14083F9CA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F50D45-6306-491D-898A-41A1914914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6521646-33E3-48BA-8B60-F606E83816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771D4A0-A159-44D8-853B-27F5818EDE8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4BA099-7C75-4D79-8A2A-1F9A5AE35E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D7376BF-38D9-4941-932B-55F6283007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fr-F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texte-titre</a:t>
            </a:r>
            <a:endParaRPr lang="fr-F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éditer le format du plan de texte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niveau de plan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Troisième niveau de plan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Quatrième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Cinquième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Septième niveau de plan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6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7863840" y="27432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318600" y="361836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773360" y="65304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296200" y="399672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9751320" y="103140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11206080" y="437544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728920" y="141012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10183680" y="475380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11638440" y="178848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9161280" y="513252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10616040" y="216720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8139240" y="551124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9594000" y="254556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11048760" y="588960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8571600" y="292428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5"/>
          <p:cNvSpPr/>
          <p:nvPr/>
        </p:nvSpPr>
        <p:spPr>
          <a:xfrm>
            <a:off x="10026360" y="626832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11481120" y="330264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9003960" y="33732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10459080" y="368136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981920" y="71604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0"/>
          <p:cNvSpPr/>
          <p:nvPr/>
        </p:nvSpPr>
        <p:spPr>
          <a:xfrm>
            <a:off x="9436680" y="406008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21"/>
          <p:cNvSpPr/>
          <p:nvPr/>
        </p:nvSpPr>
        <p:spPr>
          <a:xfrm>
            <a:off x="10891440" y="109440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2"/>
          <p:cNvSpPr/>
          <p:nvPr/>
        </p:nvSpPr>
        <p:spPr>
          <a:xfrm>
            <a:off x="8414280" y="443844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23"/>
          <p:cNvSpPr/>
          <p:nvPr/>
        </p:nvSpPr>
        <p:spPr>
          <a:xfrm>
            <a:off x="9869040" y="147312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4"/>
          <p:cNvSpPr/>
          <p:nvPr/>
        </p:nvSpPr>
        <p:spPr>
          <a:xfrm>
            <a:off x="11323800" y="481716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25"/>
          <p:cNvSpPr/>
          <p:nvPr/>
        </p:nvSpPr>
        <p:spPr>
          <a:xfrm>
            <a:off x="8847000" y="185184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26"/>
          <p:cNvSpPr/>
          <p:nvPr/>
        </p:nvSpPr>
        <p:spPr>
          <a:xfrm>
            <a:off x="822960" y="1965960"/>
            <a:ext cx="82285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pc="400" strike="noStrike">
                <a:solidFill>
                  <a:srgbClr val="00B4D8"/>
                </a:solidFill>
                <a:effectLst/>
                <a:uFillTx/>
                <a:latin typeface="Cambria"/>
                <a:ea typeface="Cambria"/>
              </a:rPr>
              <a:t>STRIPE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7"/>
          <p:cNvSpPr/>
          <p:nvPr/>
        </p:nvSpPr>
        <p:spPr>
          <a:xfrm>
            <a:off x="777240" y="2423160"/>
            <a:ext cx="9600120" cy="118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Architecture des Données</a:t>
            </a:r>
            <a:endParaRPr lang="fr-FR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822960" y="3429000"/>
            <a:ext cx="84114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FC3DB"/>
                </a:solidFill>
                <a:effectLst/>
                <a:uFillTx/>
                <a:latin typeface="Calibri"/>
                <a:ea typeface="Calibri"/>
              </a:rPr>
              <a:t>OLTP  -  OLAP  - NoSQL - 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FC3DB"/>
                </a:solidFill>
                <a:effectLst/>
                <a:uFillTx/>
                <a:latin typeface="Calibri"/>
                <a:ea typeface="Calibri"/>
              </a:rPr>
              <a:t>Architecture de données unifiée pour le paiement, l'analytique et la détection de fraude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822960" y="4617720"/>
            <a:ext cx="2743200" cy="360"/>
          </a:xfrm>
          <a:prstGeom prst="line">
            <a:avLst/>
          </a:prstGeom>
          <a:ln w="1905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822960" y="6294600"/>
            <a:ext cx="5116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C9BB5"/>
                </a:solidFill>
                <a:effectLst/>
                <a:uFillTx/>
                <a:latin typeface="Calibri"/>
                <a:ea typeface="Calibri"/>
              </a:rPr>
              <a:t>Nicolas Pichon - AIA RNCP 38777 / BC02 / Présentation - v03 / 2026-11-05. 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/>
          <p:nvPr/>
        </p:nvSpPr>
        <p:spPr>
          <a:xfrm>
            <a:off x="640080" y="45720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B1F3A"/>
                </a:solidFill>
                <a:effectLst/>
                <a:uFillTx/>
                <a:latin typeface="Cambria"/>
                <a:ea typeface="Cambria"/>
              </a:rPr>
              <a:t>Le besoin métier</a:t>
            </a:r>
            <a:endParaRPr lang="fr-F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"/>
          <p:cNvSpPr/>
          <p:nvPr/>
        </p:nvSpPr>
        <p:spPr>
          <a:xfrm>
            <a:off x="640080" y="1051560"/>
            <a:ext cx="100573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Un système de paiement sert trois usages différents x  trois natures de données différentes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"/>
          <p:cNvSpPr/>
          <p:nvPr/>
        </p:nvSpPr>
        <p:spPr>
          <a:xfrm>
            <a:off x="640080" y="1965960"/>
            <a:ext cx="2540880" cy="33822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101520" dir="5400000" dist="38160" kx="0" ky="0" rotWithShape="0" sx="100000" sy="10000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3"/>
          <p:cNvSpPr/>
          <p:nvPr/>
        </p:nvSpPr>
        <p:spPr>
          <a:xfrm>
            <a:off x="1527120" y="2286000"/>
            <a:ext cx="767160" cy="7671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0" descr="preencoded.png"/>
          <p:cNvPicPr/>
          <p:nvPr/>
        </p:nvPicPr>
        <p:blipFill>
          <a:blip r:embed="rId1"/>
          <a:stretch/>
        </p:blipFill>
        <p:spPr>
          <a:xfrm>
            <a:off x="1710000" y="2468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4"/>
          <p:cNvSpPr/>
          <p:nvPr/>
        </p:nvSpPr>
        <p:spPr>
          <a:xfrm>
            <a:off x="777240" y="3264480"/>
            <a:ext cx="2266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Revenu &amp; produits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5"/>
          <p:cNvSpPr/>
          <p:nvPr/>
        </p:nvSpPr>
        <p:spPr>
          <a:xfrm>
            <a:off x="841320" y="3703320"/>
            <a:ext cx="21387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Suivre le revenu net marchand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et la commission Stripe,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par produit, par période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6"/>
          <p:cNvSpPr/>
          <p:nvPr/>
        </p:nvSpPr>
        <p:spPr>
          <a:xfrm>
            <a:off x="3438000" y="1965960"/>
            <a:ext cx="2540880" cy="33822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101520" dir="5400000" dist="38160" kx="0" ky="0" rotWithShape="0" sx="100000" sy="10000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4325040" y="2286000"/>
            <a:ext cx="767160" cy="7671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1" descr="preencoded.png"/>
          <p:cNvPicPr/>
          <p:nvPr/>
        </p:nvPicPr>
        <p:blipFill>
          <a:blip r:embed="rId2"/>
          <a:stretch/>
        </p:blipFill>
        <p:spPr>
          <a:xfrm>
            <a:off x="4507920" y="2468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8"/>
          <p:cNvSpPr/>
          <p:nvPr/>
        </p:nvSpPr>
        <p:spPr>
          <a:xfrm>
            <a:off x="3575160" y="3264480"/>
            <a:ext cx="2266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Détection de fraude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9"/>
          <p:cNvSpPr/>
          <p:nvPr/>
        </p:nvSpPr>
        <p:spPr>
          <a:xfrm>
            <a:off x="3639240" y="3703320"/>
            <a:ext cx="21387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Scorer chaque transaction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en moins de 100 ms,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sans ralentir le paiement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0"/>
          <p:cNvSpPr/>
          <p:nvPr/>
        </p:nvSpPr>
        <p:spPr>
          <a:xfrm>
            <a:off x="6236280" y="1965960"/>
            <a:ext cx="2540880" cy="33822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101520" dir="5400000" dist="38160" kx="0" ky="0" rotWithShape="0" sx="100000" sy="10000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7123320" y="2286000"/>
            <a:ext cx="767160" cy="7671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2" descr="preencoded.png"/>
          <p:cNvPicPr/>
          <p:nvPr/>
        </p:nvPicPr>
        <p:blipFill>
          <a:blip r:embed="rId3"/>
          <a:stretch/>
        </p:blipFill>
        <p:spPr>
          <a:xfrm>
            <a:off x="7306200" y="2468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12"/>
          <p:cNvSpPr/>
          <p:nvPr/>
        </p:nvSpPr>
        <p:spPr>
          <a:xfrm>
            <a:off x="6373440" y="3264480"/>
            <a:ext cx="2266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sng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Segmentation &amp; </a:t>
            </a: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conformité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3"/>
          <p:cNvSpPr/>
          <p:nvPr/>
        </p:nvSpPr>
        <p:spPr>
          <a:xfrm>
            <a:off x="6437520" y="3703320"/>
            <a:ext cx="21387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sng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Segmenter la clientèle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sng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et </a:t>
            </a: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prouver la conformité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RGPD / PCI-DSS / CCPA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4"/>
          <p:cNvSpPr/>
          <p:nvPr/>
        </p:nvSpPr>
        <p:spPr>
          <a:xfrm>
            <a:off x="9034200" y="1965960"/>
            <a:ext cx="2540880" cy="338220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101520" dir="5400000" dist="38160" kx="0" ky="0" rotWithShape="0" sx="100000" sy="100000">
              <a:srgbClr val="1B2A4A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5"/>
          <p:cNvSpPr/>
          <p:nvPr/>
        </p:nvSpPr>
        <p:spPr>
          <a:xfrm>
            <a:off x="9921240" y="2286000"/>
            <a:ext cx="767160" cy="7671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Image 3" descr="preencoded.png"/>
          <p:cNvPicPr/>
          <p:nvPr/>
        </p:nvPicPr>
        <p:blipFill>
          <a:blip r:embed="rId4"/>
          <a:stretch/>
        </p:blipFill>
        <p:spPr>
          <a:xfrm>
            <a:off x="10104120" y="2468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 16"/>
          <p:cNvSpPr/>
          <p:nvPr/>
        </p:nvSpPr>
        <p:spPr>
          <a:xfrm>
            <a:off x="9171360" y="3264480"/>
            <a:ext cx="226656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Trois natures de données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7"/>
          <p:cNvSpPr/>
          <p:nvPr/>
        </p:nvSpPr>
        <p:spPr>
          <a:xfrm>
            <a:off x="9235440" y="3703320"/>
            <a:ext cx="213876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Transactionnelle (OLTP) 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Analytique (OLAP)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Semi-structurée (NoSQL)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640080" y="384120"/>
            <a:ext cx="822852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F3A"/>
                </a:solidFill>
                <a:effectLst/>
                <a:uFillTx/>
                <a:latin typeface="Cambria"/>
                <a:ea typeface="Cambria"/>
              </a:rPr>
              <a:t>Architecture d'ensemble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"/>
          <p:cNvSpPr/>
          <p:nvPr/>
        </p:nvSpPr>
        <p:spPr>
          <a:xfrm>
            <a:off x="640080" y="932760"/>
            <a:ext cx="105145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cinq couches, un seul principe : le chemin transactionnel n'attend jamais l'analytique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"/>
          <p:cNvSpPr/>
          <p:nvPr/>
        </p:nvSpPr>
        <p:spPr>
          <a:xfrm>
            <a:off x="641520" y="2331720"/>
            <a:ext cx="1873440" cy="137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88920" dir="5400000" dist="38160" kx="0" ky="0" rotWithShape="0" sx="100000" sy="100000">
              <a:srgbClr val="1B2A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preencoded.png"/>
          <p:cNvPicPr/>
          <p:nvPr/>
        </p:nvPicPr>
        <p:blipFill>
          <a:blip r:embed="rId1"/>
          <a:stretch/>
        </p:blipFill>
        <p:spPr>
          <a:xfrm>
            <a:off x="1377720" y="2477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3"/>
          <p:cNvSpPr/>
          <p:nvPr/>
        </p:nvSpPr>
        <p:spPr>
          <a:xfrm>
            <a:off x="696240" y="2898720"/>
            <a:ext cx="1763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Sources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696240" y="3200400"/>
            <a:ext cx="176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checkout, API, apps, réseaux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Image 1" descr="preencoded.png"/>
          <p:cNvPicPr/>
          <p:nvPr/>
        </p:nvPicPr>
        <p:blipFill>
          <a:blip r:embed="rId2"/>
          <a:stretch/>
        </p:blipFill>
        <p:spPr>
          <a:xfrm>
            <a:off x="2607480" y="2917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Shape 5"/>
          <p:cNvSpPr/>
          <p:nvPr/>
        </p:nvSpPr>
        <p:spPr>
          <a:xfrm>
            <a:off x="2900160" y="2331720"/>
            <a:ext cx="1873440" cy="137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88920" dir="5400000" dist="38160" kx="0" ky="0" rotWithShape="0" sx="100000" sy="100000">
              <a:srgbClr val="1B2A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2" descr="preencoded.png"/>
          <p:cNvPicPr/>
          <p:nvPr/>
        </p:nvPicPr>
        <p:blipFill>
          <a:blip r:embed="rId3"/>
          <a:stretch/>
        </p:blipFill>
        <p:spPr>
          <a:xfrm>
            <a:off x="3636000" y="2477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6"/>
          <p:cNvSpPr/>
          <p:nvPr/>
        </p:nvSpPr>
        <p:spPr>
          <a:xfrm>
            <a:off x="2954880" y="2898720"/>
            <a:ext cx="1763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OLTP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2954880" y="3200400"/>
            <a:ext cx="176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PostgreSQL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Image 3" descr="preencoded.png"/>
          <p:cNvPicPr/>
          <p:nvPr/>
        </p:nvPicPr>
        <p:blipFill>
          <a:blip r:embed="rId4"/>
          <a:stretch/>
        </p:blipFill>
        <p:spPr>
          <a:xfrm>
            <a:off x="4866120" y="2917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Shape 8"/>
          <p:cNvSpPr/>
          <p:nvPr/>
        </p:nvSpPr>
        <p:spPr>
          <a:xfrm>
            <a:off x="5158440" y="2331720"/>
            <a:ext cx="1873440" cy="1370520"/>
          </a:xfrm>
          <a:prstGeom prst="roundRect">
            <a:avLst>
              <a:gd name="adj" fmla="val 6000"/>
            </a:avLst>
          </a:prstGeom>
          <a:solidFill>
            <a:srgbClr val="0B1F3A"/>
          </a:solidFill>
          <a:ln w="12700">
            <a:solidFill>
              <a:srgbClr val="0B1F3A"/>
            </a:solidFill>
            <a:round/>
          </a:ln>
          <a:effectLst>
            <a:outerShdw algn="bl" blurRad="88920" dir="5400000" dist="38160" kx="0" ky="0" rotWithShape="0" sx="100000" sy="100000">
              <a:srgbClr val="1B2A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4" descr="preencoded.png"/>
          <p:cNvPicPr/>
          <p:nvPr/>
        </p:nvPicPr>
        <p:blipFill>
          <a:blip r:embed="rId5"/>
          <a:stretch/>
        </p:blipFill>
        <p:spPr>
          <a:xfrm>
            <a:off x="5894640" y="2477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9"/>
          <p:cNvSpPr/>
          <p:nvPr/>
        </p:nvSpPr>
        <p:spPr>
          <a:xfrm>
            <a:off x="5213520" y="2898720"/>
            <a:ext cx="1763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Kafka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0"/>
          <p:cNvSpPr/>
          <p:nvPr/>
        </p:nvSpPr>
        <p:spPr>
          <a:xfrm>
            <a:off x="5213520" y="3200400"/>
            <a:ext cx="176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Capture Data Change (CDC) asynchrone (Debezium)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" name="Image 5" descr="preencoded.png"/>
          <p:cNvPicPr/>
          <p:nvPr/>
        </p:nvPicPr>
        <p:blipFill>
          <a:blip r:embed="rId6"/>
          <a:stretch/>
        </p:blipFill>
        <p:spPr>
          <a:xfrm>
            <a:off x="7124400" y="2917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Shape 11"/>
          <p:cNvSpPr/>
          <p:nvPr/>
        </p:nvSpPr>
        <p:spPr>
          <a:xfrm>
            <a:off x="7417080" y="2331720"/>
            <a:ext cx="1873440" cy="137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88920" dir="5400000" dist="38160" kx="0" ky="0" rotWithShape="0" sx="100000" sy="100000">
              <a:srgbClr val="1B2A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6" descr="preencoded.png"/>
          <p:cNvPicPr/>
          <p:nvPr/>
        </p:nvPicPr>
        <p:blipFill>
          <a:blip r:embed="rId7"/>
          <a:stretch/>
        </p:blipFill>
        <p:spPr>
          <a:xfrm>
            <a:off x="8153280" y="2477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2"/>
          <p:cNvSpPr/>
          <p:nvPr/>
        </p:nvSpPr>
        <p:spPr>
          <a:xfrm>
            <a:off x="7472160" y="2898720"/>
            <a:ext cx="1763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OLAP / NoSQL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7472160" y="3200400"/>
            <a:ext cx="176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Snowflake + MongoDB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7" descr="preencoded.png"/>
          <p:cNvPicPr/>
          <p:nvPr/>
        </p:nvPicPr>
        <p:blipFill>
          <a:blip r:embed="rId8"/>
          <a:stretch/>
        </p:blipFill>
        <p:spPr>
          <a:xfrm>
            <a:off x="9383040" y="2917080"/>
            <a:ext cx="200160" cy="200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Shape 14"/>
          <p:cNvSpPr/>
          <p:nvPr/>
        </p:nvSpPr>
        <p:spPr>
          <a:xfrm>
            <a:off x="9675720" y="2331720"/>
            <a:ext cx="1873440" cy="137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88920" dir="5400000" dist="38160" kx="0" ky="0" rotWithShape="0" sx="100000" sy="100000">
              <a:srgbClr val="1B2A4A">
                <a:alpha val="14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Image 8" descr="preencoded.png"/>
          <p:cNvPicPr/>
          <p:nvPr/>
        </p:nvPicPr>
        <p:blipFill>
          <a:blip r:embed="rId9"/>
          <a:stretch/>
        </p:blipFill>
        <p:spPr>
          <a:xfrm>
            <a:off x="10411920" y="2477880"/>
            <a:ext cx="401400" cy="40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 15"/>
          <p:cNvSpPr/>
          <p:nvPr/>
        </p:nvSpPr>
        <p:spPr>
          <a:xfrm>
            <a:off x="9730440" y="2898720"/>
            <a:ext cx="176364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Consommateurs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9730440" y="3200400"/>
            <a:ext cx="17636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dashboards, fraude, conformité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2419920" y="3959280"/>
            <a:ext cx="4599720" cy="456120"/>
          </a:xfrm>
          <a:prstGeom prst="roundRect">
            <a:avLst>
              <a:gd name="adj" fmla="val 50000"/>
            </a:avLst>
          </a:prstGeom>
          <a:solidFill>
            <a:srgbClr val="EEF2F8"/>
          </a:solidFill>
          <a:ln w="12700">
            <a:solidFill>
              <a:srgbClr val="DC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8"/>
          <p:cNvSpPr/>
          <p:nvPr/>
        </p:nvSpPr>
        <p:spPr>
          <a:xfrm>
            <a:off x="2465640" y="3977640"/>
            <a:ext cx="437400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3D5A80"/>
                </a:solidFill>
                <a:effectLst/>
                <a:uFillTx/>
                <a:latin typeface="Calibri"/>
                <a:ea typeface="Calibri"/>
              </a:rPr>
              <a:t>↩  Boucle de retour : score de fraude → OLTP (synchrone, &lt; 100 ms)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9"/>
          <p:cNvSpPr/>
          <p:nvPr/>
        </p:nvSpPr>
        <p:spPr>
          <a:xfrm>
            <a:off x="632160" y="5349240"/>
            <a:ext cx="3427920" cy="86760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Image 9" descr="preencoded.png"/>
          <p:cNvPicPr/>
          <p:nvPr/>
        </p:nvPicPr>
        <p:blipFill>
          <a:blip r:embed="rId10"/>
          <a:stretch/>
        </p:blipFill>
        <p:spPr>
          <a:xfrm>
            <a:off x="833400" y="5596200"/>
            <a:ext cx="364680" cy="36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 20"/>
          <p:cNvSpPr/>
          <p:nvPr/>
        </p:nvSpPr>
        <p:spPr>
          <a:xfrm>
            <a:off x="1317960" y="534924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Asynchrone hors du chemin transactionnel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1"/>
          <p:cNvSpPr/>
          <p:nvPr/>
        </p:nvSpPr>
        <p:spPr>
          <a:xfrm>
            <a:off x="4381200" y="5349240"/>
            <a:ext cx="3427920" cy="86760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Image 10" descr="preencoded.png"/>
          <p:cNvPicPr/>
          <p:nvPr/>
        </p:nvPicPr>
        <p:blipFill>
          <a:blip r:embed="rId11"/>
          <a:stretch/>
        </p:blipFill>
        <p:spPr>
          <a:xfrm>
            <a:off x="4582440" y="5596200"/>
            <a:ext cx="364680" cy="36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 22"/>
          <p:cNvSpPr/>
          <p:nvPr/>
        </p:nvSpPr>
        <p:spPr>
          <a:xfrm>
            <a:off x="5067000" y="534924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CDC</a:t>
            </a: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plutôt que triggers 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synchrones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3"/>
          <p:cNvSpPr/>
          <p:nvPr/>
        </p:nvSpPr>
        <p:spPr>
          <a:xfrm>
            <a:off x="8130240" y="5349240"/>
            <a:ext cx="3427920" cy="86760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11" descr="preencoded.png"/>
          <p:cNvPicPr/>
          <p:nvPr/>
        </p:nvPicPr>
        <p:blipFill>
          <a:blip r:embed="rId12"/>
          <a:stretch/>
        </p:blipFill>
        <p:spPr>
          <a:xfrm>
            <a:off x="8331480" y="5596200"/>
            <a:ext cx="364680" cy="364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24"/>
          <p:cNvSpPr/>
          <p:nvPr/>
        </p:nvSpPr>
        <p:spPr>
          <a:xfrm>
            <a:off x="8816040" y="5349240"/>
            <a:ext cx="255924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Taux de change de référence analytique </a:t>
            </a:r>
            <a:r>
              <a:rPr lang="en-US" sz="1100" b="0" i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fixe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1348920" y="15480"/>
            <a:ext cx="953424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640080" y="457200"/>
            <a:ext cx="9600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F3A"/>
                </a:solidFill>
                <a:effectLst/>
                <a:uFillTx/>
                <a:latin typeface="Cambria"/>
                <a:ea typeface="Cambria"/>
              </a:rPr>
              <a:t>Deux flux synchrone/asynchrone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1"/>
          <p:cNvSpPr/>
          <p:nvPr/>
        </p:nvSpPr>
        <p:spPr>
          <a:xfrm>
            <a:off x="640080" y="1737360"/>
            <a:ext cx="5073840" cy="2604960"/>
          </a:xfrm>
          <a:prstGeom prst="roundRect">
            <a:avLst>
              <a:gd name="adj" fmla="val 2807"/>
            </a:avLst>
          </a:prstGeom>
          <a:solidFill>
            <a:srgbClr val="EEF2F8"/>
          </a:solidFill>
          <a:ln w="12700">
            <a:solidFill>
              <a:srgbClr val="DC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640080" y="1737360"/>
            <a:ext cx="5073840" cy="565920"/>
          </a:xfrm>
          <a:prstGeom prst="rect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868680" y="1737360"/>
            <a:ext cx="46166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Chemin transactionnel (synchrone)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4"/>
          <p:cNvSpPr/>
          <p:nvPr/>
        </p:nvSpPr>
        <p:spPr>
          <a:xfrm>
            <a:off x="896040" y="2541960"/>
            <a:ext cx="309960" cy="3099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896040" y="254196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1353240" y="2487240"/>
            <a:ext cx="41137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Client / marchand écrit dans l'OLTP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896040" y="3145680"/>
            <a:ext cx="309960" cy="3099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896040" y="31456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353240" y="3090600"/>
            <a:ext cx="41137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Réponse immédiate — ACID requis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>
            <a:off x="896040" y="3749040"/>
            <a:ext cx="309960" cy="309960"/>
          </a:xfrm>
          <a:prstGeom prst="ellipse">
            <a:avLst/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1"/>
          <p:cNvSpPr/>
          <p:nvPr/>
        </p:nvSpPr>
        <p:spPr>
          <a:xfrm>
            <a:off x="896040" y="3749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1353240" y="3694320"/>
            <a:ext cx="41137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Aucun processus aval ne bloque cette écriture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3"/>
          <p:cNvSpPr/>
          <p:nvPr/>
        </p:nvSpPr>
        <p:spPr>
          <a:xfrm>
            <a:off x="6172200" y="1737360"/>
            <a:ext cx="5073840" cy="2604960"/>
          </a:xfrm>
          <a:prstGeom prst="roundRect">
            <a:avLst>
              <a:gd name="adj" fmla="val 2807"/>
            </a:avLst>
          </a:prstGeom>
          <a:solidFill>
            <a:srgbClr val="EEF2F8"/>
          </a:solidFill>
          <a:ln w="12700">
            <a:solidFill>
              <a:srgbClr val="DCE3E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6172200" y="1737360"/>
            <a:ext cx="5073840" cy="5659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5"/>
          <p:cNvSpPr/>
          <p:nvPr/>
        </p:nvSpPr>
        <p:spPr>
          <a:xfrm>
            <a:off x="6400800" y="1737360"/>
            <a:ext cx="46166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Chemin analytique &amp; fraude (asynchrone)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6"/>
          <p:cNvSpPr/>
          <p:nvPr/>
        </p:nvSpPr>
        <p:spPr>
          <a:xfrm>
            <a:off x="6428160" y="254196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6428160" y="254196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6885360" y="2487240"/>
            <a:ext cx="41137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CDC lit le WAL, publie sur Kafka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6428160" y="314568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6428160" y="314568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6885360" y="3090600"/>
            <a:ext cx="41137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NoSQL et OLAP consomment en continu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6428160" y="3749040"/>
            <a:ext cx="309960" cy="3099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3"/>
          <p:cNvSpPr/>
          <p:nvPr/>
        </p:nvSpPr>
        <p:spPr>
          <a:xfrm>
            <a:off x="6428160" y="3749040"/>
            <a:ext cx="30996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6885360" y="3694320"/>
            <a:ext cx="411372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Score de fraude renvoyé en &lt; 100 ms</a:t>
            </a:r>
            <a:endParaRPr lang="fr-F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5"/>
          <p:cNvSpPr/>
          <p:nvPr/>
        </p:nvSpPr>
        <p:spPr>
          <a:xfrm>
            <a:off x="640080" y="4663440"/>
            <a:ext cx="10880280" cy="141624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6"/>
          <p:cNvSpPr/>
          <p:nvPr/>
        </p:nvSpPr>
        <p:spPr>
          <a:xfrm>
            <a:off x="914400" y="4846320"/>
            <a:ext cx="1033164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Pourquoi ça compte : DataAccessLog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7"/>
          <p:cNvSpPr/>
          <p:nvPr/>
        </p:nvSpPr>
        <p:spPr>
          <a:xfrm>
            <a:off x="914400" y="5184720"/>
            <a:ext cx="1033164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Un accès en lecture (SELECT) ne laisse aucune trace dans le WAL — le CDC ne peut donc rien y capter. C'est pourquoi la journalisation des accès est créée par un consommateur asynchrone dédié, pas par le même mécanisme CDC que le reste des tables.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 0"/>
          <p:cNvSpPr/>
          <p:nvPr/>
        </p:nvSpPr>
        <p:spPr>
          <a:xfrm>
            <a:off x="640080" y="457200"/>
            <a:ext cx="82285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B1F3A"/>
                </a:solidFill>
                <a:effectLst/>
                <a:uFillTx/>
                <a:latin typeface="Cambria"/>
                <a:ea typeface="Cambria"/>
              </a:rPr>
              <a:t>Les livrables du projet</a:t>
            </a:r>
            <a:endParaRPr lang="fr-F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"/>
          <p:cNvSpPr/>
          <p:nvPr/>
        </p:nvSpPr>
        <p:spPr>
          <a:xfrm>
            <a:off x="640080" y="1417320"/>
            <a:ext cx="34552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76320" dir="5400000" dist="25560" kx="0" ky="0" rotWithShape="0" sx="100000" sy="100000">
              <a:srgbClr val="1B2A4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841320" y="1618560"/>
            <a:ext cx="565920" cy="56592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960120" y="173736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3"/>
          <p:cNvSpPr/>
          <p:nvPr/>
        </p:nvSpPr>
        <p:spPr>
          <a:xfrm>
            <a:off x="3410640" y="1600200"/>
            <a:ext cx="5018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D2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841320" y="2331720"/>
            <a:ext cx="305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Modèle OLTP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5"/>
          <p:cNvSpPr/>
          <p:nvPr/>
        </p:nvSpPr>
        <p:spPr>
          <a:xfrm>
            <a:off x="841320" y="2715840"/>
            <a:ext cx="30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31 tables PostgreSQL — cœur métier, sécurité &amp; conformité.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6"/>
          <p:cNvSpPr/>
          <p:nvPr/>
        </p:nvSpPr>
        <p:spPr>
          <a:xfrm>
            <a:off x="4352400" y="1417320"/>
            <a:ext cx="34552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76320" dir="5400000" dist="25560" kx="0" ky="0" rotWithShape="0" sx="100000" sy="100000">
              <a:srgbClr val="1B2A4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7"/>
          <p:cNvSpPr/>
          <p:nvPr/>
        </p:nvSpPr>
        <p:spPr>
          <a:xfrm>
            <a:off x="4553640" y="1618560"/>
            <a:ext cx="565920" cy="56592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1" descr="preencoded.png"/>
          <p:cNvPicPr/>
          <p:nvPr/>
        </p:nvPicPr>
        <p:blipFill>
          <a:blip r:embed="rId2"/>
          <a:stretch/>
        </p:blipFill>
        <p:spPr>
          <a:xfrm>
            <a:off x="4672440" y="173736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8"/>
          <p:cNvSpPr/>
          <p:nvPr/>
        </p:nvSpPr>
        <p:spPr>
          <a:xfrm>
            <a:off x="7123320" y="1600200"/>
            <a:ext cx="5018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D3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4553640" y="2331720"/>
            <a:ext cx="305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Modèle OLAP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4553640" y="2715840"/>
            <a:ext cx="30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6 faits, 17 dimensions, schéma en étoile par processus.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1"/>
          <p:cNvSpPr/>
          <p:nvPr/>
        </p:nvSpPr>
        <p:spPr>
          <a:xfrm>
            <a:off x="8065080" y="1417320"/>
            <a:ext cx="34552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76320" dir="5400000" dist="25560" kx="0" ky="0" rotWithShape="0" sx="100000" sy="100000">
              <a:srgbClr val="1B2A4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2"/>
          <p:cNvSpPr/>
          <p:nvPr/>
        </p:nvSpPr>
        <p:spPr>
          <a:xfrm>
            <a:off x="8266320" y="1618560"/>
            <a:ext cx="565920" cy="56592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4" name="Image 2" descr="preencoded.png"/>
          <p:cNvPicPr/>
          <p:nvPr/>
        </p:nvPicPr>
        <p:blipFill>
          <a:blip r:embed="rId3"/>
          <a:stretch/>
        </p:blipFill>
        <p:spPr>
          <a:xfrm>
            <a:off x="8385120" y="173736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Text 13"/>
          <p:cNvSpPr/>
          <p:nvPr/>
        </p:nvSpPr>
        <p:spPr>
          <a:xfrm>
            <a:off x="10835640" y="1600200"/>
            <a:ext cx="5018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D4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4"/>
          <p:cNvSpPr/>
          <p:nvPr/>
        </p:nvSpPr>
        <p:spPr>
          <a:xfrm>
            <a:off x="8266320" y="2331720"/>
            <a:ext cx="305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Modèle NoSQL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5"/>
          <p:cNvSpPr/>
          <p:nvPr/>
        </p:nvSpPr>
        <p:spPr>
          <a:xfrm>
            <a:off x="8266320" y="2715840"/>
            <a:ext cx="30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5 collections MongoDB, modélisées par motif d'accès.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6"/>
          <p:cNvSpPr/>
          <p:nvPr/>
        </p:nvSpPr>
        <p:spPr>
          <a:xfrm>
            <a:off x="640080" y="4005000"/>
            <a:ext cx="34552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76320" dir="5400000" dist="25560" kx="0" ky="0" rotWithShape="0" sx="100000" sy="100000">
              <a:srgbClr val="1B2A4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7"/>
          <p:cNvSpPr/>
          <p:nvPr/>
        </p:nvSpPr>
        <p:spPr>
          <a:xfrm>
            <a:off x="841320" y="4206240"/>
            <a:ext cx="565920" cy="56592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" name="Image 3" descr="preencoded.png"/>
          <p:cNvPicPr/>
          <p:nvPr/>
        </p:nvPicPr>
        <p:blipFill>
          <a:blip r:embed="rId4"/>
          <a:stretch/>
        </p:blipFill>
        <p:spPr>
          <a:xfrm>
            <a:off x="960120" y="432504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1" name="Text 18"/>
          <p:cNvSpPr/>
          <p:nvPr/>
        </p:nvSpPr>
        <p:spPr>
          <a:xfrm>
            <a:off x="3410640" y="4187880"/>
            <a:ext cx="5018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D5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9"/>
          <p:cNvSpPr/>
          <p:nvPr/>
        </p:nvSpPr>
        <p:spPr>
          <a:xfrm>
            <a:off x="841320" y="4919400"/>
            <a:ext cx="305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Pipeline de données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20"/>
          <p:cNvSpPr/>
          <p:nvPr/>
        </p:nvSpPr>
        <p:spPr>
          <a:xfrm>
            <a:off x="841320" y="5303520"/>
            <a:ext cx="30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Kafka + Debezium + Flink + Airflow, cinq couches.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1"/>
          <p:cNvSpPr/>
          <p:nvPr/>
        </p:nvSpPr>
        <p:spPr>
          <a:xfrm>
            <a:off x="4352400" y="4005000"/>
            <a:ext cx="34552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76320" dir="5400000" dist="25560" kx="0" ky="0" rotWithShape="0" sx="100000" sy="100000">
              <a:srgbClr val="1B2A4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22"/>
          <p:cNvSpPr/>
          <p:nvPr/>
        </p:nvSpPr>
        <p:spPr>
          <a:xfrm>
            <a:off x="4553640" y="4206240"/>
            <a:ext cx="565920" cy="56592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4" descr="preencoded.png"/>
          <p:cNvPicPr/>
          <p:nvPr/>
        </p:nvPicPr>
        <p:blipFill>
          <a:blip r:embed="rId5"/>
          <a:stretch/>
        </p:blipFill>
        <p:spPr>
          <a:xfrm>
            <a:off x="4672440" y="432504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3"/>
          <p:cNvSpPr/>
          <p:nvPr/>
        </p:nvSpPr>
        <p:spPr>
          <a:xfrm>
            <a:off x="7123320" y="4187880"/>
            <a:ext cx="5018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D6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24"/>
          <p:cNvSpPr/>
          <p:nvPr/>
        </p:nvSpPr>
        <p:spPr>
          <a:xfrm>
            <a:off x="4553640" y="4919400"/>
            <a:ext cx="305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Sécurité &amp; conformité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5"/>
          <p:cNvSpPr/>
          <p:nvPr/>
        </p:nvSpPr>
        <p:spPr>
          <a:xfrm>
            <a:off x="4553640" y="5303520"/>
            <a:ext cx="30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RBAC, RLS, chiffrement, RGPD / PCI-DSS.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26"/>
          <p:cNvSpPr/>
          <p:nvPr/>
        </p:nvSpPr>
        <p:spPr>
          <a:xfrm>
            <a:off x="8065080" y="4005000"/>
            <a:ext cx="3455280" cy="233064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3EE"/>
            </a:solidFill>
            <a:round/>
          </a:ln>
          <a:effectLst>
            <a:outerShdw algn="bl" blurRad="76320" dir="5400000" dist="25560" kx="0" ky="0" rotWithShape="0" sx="100000" sy="100000">
              <a:srgbClr val="1B2A4A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27"/>
          <p:cNvSpPr/>
          <p:nvPr/>
        </p:nvSpPr>
        <p:spPr>
          <a:xfrm>
            <a:off x="8266320" y="4206240"/>
            <a:ext cx="565920" cy="565920"/>
          </a:xfrm>
          <a:prstGeom prst="roundRect">
            <a:avLst>
              <a:gd name="adj" fmla="val 50000"/>
            </a:avLst>
          </a:prstGeom>
          <a:solidFill>
            <a:srgbClr val="3D5A8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5" descr="preencoded.png"/>
          <p:cNvPicPr/>
          <p:nvPr/>
        </p:nvPicPr>
        <p:blipFill>
          <a:blip r:embed="rId6"/>
          <a:stretch/>
        </p:blipFill>
        <p:spPr>
          <a:xfrm>
            <a:off x="8385120" y="4325040"/>
            <a:ext cx="327960" cy="327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28"/>
          <p:cNvSpPr/>
          <p:nvPr/>
        </p:nvSpPr>
        <p:spPr>
          <a:xfrm>
            <a:off x="10835640" y="4187880"/>
            <a:ext cx="50184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D7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9"/>
          <p:cNvSpPr/>
          <p:nvPr/>
        </p:nvSpPr>
        <p:spPr>
          <a:xfrm>
            <a:off x="8266320" y="4919400"/>
            <a:ext cx="30531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B1F3A"/>
                </a:solidFill>
                <a:effectLst/>
                <a:uFillTx/>
                <a:latin typeface="Calibri"/>
                <a:ea typeface="Calibri"/>
              </a:rPr>
              <a:t>Intégration ML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30"/>
          <p:cNvSpPr/>
          <p:nvPr/>
        </p:nvSpPr>
        <p:spPr>
          <a:xfrm>
            <a:off x="8266320" y="5303520"/>
            <a:ext cx="305316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6213E"/>
                </a:solidFill>
                <a:effectLst/>
                <a:uFillTx/>
                <a:latin typeface="Calibri"/>
                <a:ea typeface="Calibri"/>
              </a:rPr>
              <a:t>Scoring de fraude temps réel, magasin de features.</a:t>
            </a:r>
            <a:endParaRPr lang="fr-F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0"/>
          <p:cNvSpPr/>
          <p:nvPr/>
        </p:nvSpPr>
        <p:spPr>
          <a:xfrm>
            <a:off x="7863840" y="27432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1"/>
          <p:cNvSpPr/>
          <p:nvPr/>
        </p:nvSpPr>
        <p:spPr>
          <a:xfrm>
            <a:off x="9318600" y="361836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2"/>
          <p:cNvSpPr/>
          <p:nvPr/>
        </p:nvSpPr>
        <p:spPr>
          <a:xfrm>
            <a:off x="10773360" y="65304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8296200" y="399672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"/>
          <p:cNvSpPr/>
          <p:nvPr/>
        </p:nvSpPr>
        <p:spPr>
          <a:xfrm>
            <a:off x="9751320" y="103140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5"/>
          <p:cNvSpPr/>
          <p:nvPr/>
        </p:nvSpPr>
        <p:spPr>
          <a:xfrm>
            <a:off x="11206080" y="437544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6"/>
          <p:cNvSpPr/>
          <p:nvPr/>
        </p:nvSpPr>
        <p:spPr>
          <a:xfrm>
            <a:off x="8728920" y="141012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10183680" y="475380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11638440" y="178848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9"/>
          <p:cNvSpPr/>
          <p:nvPr/>
        </p:nvSpPr>
        <p:spPr>
          <a:xfrm>
            <a:off x="9161280" y="513252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0"/>
          <p:cNvSpPr/>
          <p:nvPr/>
        </p:nvSpPr>
        <p:spPr>
          <a:xfrm>
            <a:off x="10616040" y="216720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11"/>
          <p:cNvSpPr/>
          <p:nvPr/>
        </p:nvSpPr>
        <p:spPr>
          <a:xfrm>
            <a:off x="8139240" y="551124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2"/>
          <p:cNvSpPr/>
          <p:nvPr/>
        </p:nvSpPr>
        <p:spPr>
          <a:xfrm>
            <a:off x="9594000" y="254556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3"/>
          <p:cNvSpPr/>
          <p:nvPr/>
        </p:nvSpPr>
        <p:spPr>
          <a:xfrm>
            <a:off x="11048760" y="588960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14"/>
          <p:cNvSpPr/>
          <p:nvPr/>
        </p:nvSpPr>
        <p:spPr>
          <a:xfrm>
            <a:off x="8571600" y="292428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5"/>
          <p:cNvSpPr/>
          <p:nvPr/>
        </p:nvSpPr>
        <p:spPr>
          <a:xfrm>
            <a:off x="10026360" y="626832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16"/>
          <p:cNvSpPr/>
          <p:nvPr/>
        </p:nvSpPr>
        <p:spPr>
          <a:xfrm>
            <a:off x="11481120" y="330264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17"/>
          <p:cNvSpPr/>
          <p:nvPr/>
        </p:nvSpPr>
        <p:spPr>
          <a:xfrm>
            <a:off x="9003960" y="33732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8"/>
          <p:cNvSpPr/>
          <p:nvPr/>
        </p:nvSpPr>
        <p:spPr>
          <a:xfrm>
            <a:off x="640080" y="502920"/>
            <a:ext cx="731412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En chiffres</a:t>
            </a:r>
            <a:endParaRPr lang="fr-F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9"/>
          <p:cNvSpPr/>
          <p:nvPr/>
        </p:nvSpPr>
        <p:spPr>
          <a:xfrm>
            <a:off x="640080" y="1600200"/>
            <a:ext cx="3519360" cy="1964880"/>
          </a:xfrm>
          <a:prstGeom prst="roundRect">
            <a:avLst>
              <a:gd name="adj" fmla="val 3721"/>
            </a:avLst>
          </a:prstGeom>
          <a:solidFill>
            <a:srgbClr val="13294D"/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20"/>
          <p:cNvSpPr/>
          <p:nvPr/>
        </p:nvSpPr>
        <p:spPr>
          <a:xfrm>
            <a:off x="822960" y="1828800"/>
            <a:ext cx="31536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31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1"/>
          <p:cNvSpPr/>
          <p:nvPr/>
        </p:nvSpPr>
        <p:spPr>
          <a:xfrm>
            <a:off x="822960" y="2880360"/>
            <a:ext cx="3153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tables OLTP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22"/>
          <p:cNvSpPr/>
          <p:nvPr/>
        </p:nvSpPr>
        <p:spPr>
          <a:xfrm>
            <a:off x="4480560" y="1600200"/>
            <a:ext cx="3519360" cy="1964880"/>
          </a:xfrm>
          <a:prstGeom prst="roundRect">
            <a:avLst>
              <a:gd name="adj" fmla="val 3721"/>
            </a:avLst>
          </a:prstGeom>
          <a:solidFill>
            <a:srgbClr val="13294D"/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3"/>
          <p:cNvSpPr/>
          <p:nvPr/>
        </p:nvSpPr>
        <p:spPr>
          <a:xfrm>
            <a:off x="4663440" y="1828800"/>
            <a:ext cx="31536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24"/>
          <p:cNvSpPr/>
          <p:nvPr/>
        </p:nvSpPr>
        <p:spPr>
          <a:xfrm>
            <a:off x="4663440" y="2880360"/>
            <a:ext cx="3153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faits OLAP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25"/>
          <p:cNvSpPr/>
          <p:nvPr/>
        </p:nvSpPr>
        <p:spPr>
          <a:xfrm>
            <a:off x="8321040" y="1600200"/>
            <a:ext cx="3519360" cy="1964880"/>
          </a:xfrm>
          <a:prstGeom prst="roundRect">
            <a:avLst>
              <a:gd name="adj" fmla="val 3721"/>
            </a:avLst>
          </a:prstGeom>
          <a:solidFill>
            <a:srgbClr val="13294D"/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26"/>
          <p:cNvSpPr/>
          <p:nvPr/>
        </p:nvSpPr>
        <p:spPr>
          <a:xfrm>
            <a:off x="8503920" y="1828800"/>
            <a:ext cx="31536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7"/>
          <p:cNvSpPr/>
          <p:nvPr/>
        </p:nvSpPr>
        <p:spPr>
          <a:xfrm>
            <a:off x="8503920" y="2880360"/>
            <a:ext cx="3153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collections NoSQL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28"/>
          <p:cNvSpPr/>
          <p:nvPr/>
        </p:nvSpPr>
        <p:spPr>
          <a:xfrm>
            <a:off x="640080" y="3886200"/>
            <a:ext cx="3519360" cy="1964880"/>
          </a:xfrm>
          <a:prstGeom prst="roundRect">
            <a:avLst>
              <a:gd name="adj" fmla="val 3721"/>
            </a:avLst>
          </a:prstGeom>
          <a:solidFill>
            <a:srgbClr val="13294D"/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29"/>
          <p:cNvSpPr/>
          <p:nvPr/>
        </p:nvSpPr>
        <p:spPr>
          <a:xfrm>
            <a:off x="822960" y="4114800"/>
            <a:ext cx="31536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30"/>
          <p:cNvSpPr/>
          <p:nvPr/>
        </p:nvSpPr>
        <p:spPr>
          <a:xfrm>
            <a:off x="822960" y="5166360"/>
            <a:ext cx="3153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rôles d'accès (RBAC)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31"/>
          <p:cNvSpPr/>
          <p:nvPr/>
        </p:nvSpPr>
        <p:spPr>
          <a:xfrm>
            <a:off x="4480560" y="3886200"/>
            <a:ext cx="3519360" cy="1964880"/>
          </a:xfrm>
          <a:prstGeom prst="roundRect">
            <a:avLst>
              <a:gd name="adj" fmla="val 3721"/>
            </a:avLst>
          </a:prstGeom>
          <a:solidFill>
            <a:srgbClr val="13294D"/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32"/>
          <p:cNvSpPr/>
          <p:nvPr/>
        </p:nvSpPr>
        <p:spPr>
          <a:xfrm>
            <a:off x="4663440" y="4114800"/>
            <a:ext cx="31536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&lt; 100 ms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33"/>
          <p:cNvSpPr/>
          <p:nvPr/>
        </p:nvSpPr>
        <p:spPr>
          <a:xfrm>
            <a:off x="4663440" y="5166360"/>
            <a:ext cx="3153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décision de fraude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34"/>
          <p:cNvSpPr/>
          <p:nvPr/>
        </p:nvSpPr>
        <p:spPr>
          <a:xfrm>
            <a:off x="8321040" y="3886200"/>
            <a:ext cx="3519360" cy="1964880"/>
          </a:xfrm>
          <a:prstGeom prst="roundRect">
            <a:avLst>
              <a:gd name="adj" fmla="val 3721"/>
            </a:avLst>
          </a:prstGeom>
          <a:solidFill>
            <a:srgbClr val="13294D"/>
          </a:solidFill>
          <a:ln w="1270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5"/>
          <p:cNvSpPr/>
          <p:nvPr/>
        </p:nvSpPr>
        <p:spPr>
          <a:xfrm>
            <a:off x="8503920" y="4114800"/>
            <a:ext cx="31536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72 h</a:t>
            </a:r>
            <a:endParaRPr lang="fr-F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36"/>
          <p:cNvSpPr/>
          <p:nvPr/>
        </p:nvSpPr>
        <p:spPr>
          <a:xfrm>
            <a:off x="8503920" y="5166360"/>
            <a:ext cx="3153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9D6E8"/>
                </a:solidFill>
                <a:effectLst/>
                <a:uFillTx/>
                <a:latin typeface="Calibri"/>
                <a:ea typeface="Calibri"/>
              </a:rPr>
              <a:t>délai de notification RGPD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0"/>
          <p:cNvSpPr/>
          <p:nvPr/>
        </p:nvSpPr>
        <p:spPr>
          <a:xfrm>
            <a:off x="7863840" y="27432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1"/>
          <p:cNvSpPr/>
          <p:nvPr/>
        </p:nvSpPr>
        <p:spPr>
          <a:xfrm>
            <a:off x="9318600" y="361836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2"/>
          <p:cNvSpPr/>
          <p:nvPr/>
        </p:nvSpPr>
        <p:spPr>
          <a:xfrm>
            <a:off x="10773360" y="65304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Shape 3"/>
          <p:cNvSpPr/>
          <p:nvPr/>
        </p:nvSpPr>
        <p:spPr>
          <a:xfrm>
            <a:off x="8296200" y="399672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4"/>
          <p:cNvSpPr/>
          <p:nvPr/>
        </p:nvSpPr>
        <p:spPr>
          <a:xfrm>
            <a:off x="9751320" y="103140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5"/>
          <p:cNvSpPr/>
          <p:nvPr/>
        </p:nvSpPr>
        <p:spPr>
          <a:xfrm>
            <a:off x="11206080" y="437544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6"/>
          <p:cNvSpPr/>
          <p:nvPr/>
        </p:nvSpPr>
        <p:spPr>
          <a:xfrm>
            <a:off x="8728920" y="141012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7"/>
          <p:cNvSpPr/>
          <p:nvPr/>
        </p:nvSpPr>
        <p:spPr>
          <a:xfrm>
            <a:off x="10183680" y="475380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8"/>
          <p:cNvSpPr/>
          <p:nvPr/>
        </p:nvSpPr>
        <p:spPr>
          <a:xfrm>
            <a:off x="11638440" y="178848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9"/>
          <p:cNvSpPr/>
          <p:nvPr/>
        </p:nvSpPr>
        <p:spPr>
          <a:xfrm>
            <a:off x="9161280" y="513252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0"/>
          <p:cNvSpPr/>
          <p:nvPr/>
        </p:nvSpPr>
        <p:spPr>
          <a:xfrm>
            <a:off x="10616040" y="216720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11"/>
          <p:cNvSpPr/>
          <p:nvPr/>
        </p:nvSpPr>
        <p:spPr>
          <a:xfrm>
            <a:off x="8139240" y="551124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2"/>
          <p:cNvSpPr/>
          <p:nvPr/>
        </p:nvSpPr>
        <p:spPr>
          <a:xfrm>
            <a:off x="9594000" y="254556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3"/>
          <p:cNvSpPr/>
          <p:nvPr/>
        </p:nvSpPr>
        <p:spPr>
          <a:xfrm>
            <a:off x="11048760" y="588960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4"/>
          <p:cNvSpPr/>
          <p:nvPr/>
        </p:nvSpPr>
        <p:spPr>
          <a:xfrm>
            <a:off x="8571600" y="292428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15"/>
          <p:cNvSpPr/>
          <p:nvPr/>
        </p:nvSpPr>
        <p:spPr>
          <a:xfrm>
            <a:off x="10026360" y="626832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16"/>
          <p:cNvSpPr/>
          <p:nvPr/>
        </p:nvSpPr>
        <p:spPr>
          <a:xfrm>
            <a:off x="11481120" y="330264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7"/>
          <p:cNvSpPr/>
          <p:nvPr/>
        </p:nvSpPr>
        <p:spPr>
          <a:xfrm>
            <a:off x="9003960" y="33732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8"/>
          <p:cNvSpPr/>
          <p:nvPr/>
        </p:nvSpPr>
        <p:spPr>
          <a:xfrm>
            <a:off x="10459080" y="368136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19"/>
          <p:cNvSpPr/>
          <p:nvPr/>
        </p:nvSpPr>
        <p:spPr>
          <a:xfrm>
            <a:off x="7981920" y="71604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20"/>
          <p:cNvSpPr/>
          <p:nvPr/>
        </p:nvSpPr>
        <p:spPr>
          <a:xfrm>
            <a:off x="9436680" y="406008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21"/>
          <p:cNvSpPr/>
          <p:nvPr/>
        </p:nvSpPr>
        <p:spPr>
          <a:xfrm>
            <a:off x="10891440" y="1094400"/>
            <a:ext cx="101160" cy="1011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7360" rIns="90000" bIns="2736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22"/>
          <p:cNvSpPr/>
          <p:nvPr/>
        </p:nvSpPr>
        <p:spPr>
          <a:xfrm>
            <a:off x="8414280" y="4438440"/>
            <a:ext cx="57600" cy="5760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3240" rIns="90000" bIns="-3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3"/>
          <p:cNvSpPr/>
          <p:nvPr/>
        </p:nvSpPr>
        <p:spPr>
          <a:xfrm>
            <a:off x="9869040" y="1473120"/>
            <a:ext cx="123120" cy="12312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2840" rIns="90000" bIns="428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24"/>
          <p:cNvSpPr/>
          <p:nvPr/>
        </p:nvSpPr>
        <p:spPr>
          <a:xfrm>
            <a:off x="11323800" y="4817160"/>
            <a:ext cx="79560" cy="7956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2240" rIns="90000" bIns="1224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5"/>
          <p:cNvSpPr/>
          <p:nvPr/>
        </p:nvSpPr>
        <p:spPr>
          <a:xfrm>
            <a:off x="8847000" y="1851840"/>
            <a:ext cx="35640" cy="35640"/>
          </a:xfrm>
          <a:prstGeom prst="ellipse">
            <a:avLst/>
          </a:prstGeom>
          <a:solidFill>
            <a:srgbClr val="00B4D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8720" rIns="90000" bIns="-1872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26"/>
          <p:cNvSpPr/>
          <p:nvPr/>
        </p:nvSpPr>
        <p:spPr>
          <a:xfrm>
            <a:off x="822960" y="2103120"/>
            <a:ext cx="8685720" cy="155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Un principe, trois systèmes cohérents</a:t>
            </a:r>
            <a:endParaRPr lang="fr-F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27"/>
          <p:cNvSpPr/>
          <p:nvPr/>
        </p:nvSpPr>
        <p:spPr>
          <a:xfrm>
            <a:off x="822960" y="3611880"/>
            <a:ext cx="868572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FC3DB"/>
                </a:solidFill>
                <a:effectLst/>
                <a:uFillTx/>
                <a:latin typeface="Calibri"/>
                <a:ea typeface="Calibri"/>
              </a:rPr>
              <a:t>Ne jamais ralentir le paiement pour servir l'analytique, la fraude ou la conformité 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AFC3DB"/>
                </a:solidFill>
                <a:effectLst/>
                <a:uFillTx/>
                <a:latin typeface="Calibri"/>
                <a:ea typeface="Calibri"/>
              </a:rPr>
              <a:t>&gt; chaque choix d'architecture en découle.</a:t>
            </a:r>
            <a:endParaRPr lang="fr-F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8"/>
          <p:cNvSpPr/>
          <p:nvPr/>
        </p:nvSpPr>
        <p:spPr>
          <a:xfrm>
            <a:off x="822960" y="4709160"/>
            <a:ext cx="2743200" cy="360"/>
          </a:xfrm>
          <a:prstGeom prst="line">
            <a:avLst/>
          </a:prstGeom>
          <a:ln w="19050">
            <a:solidFill>
              <a:srgbClr val="3D5A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9"/>
          <p:cNvSpPr/>
          <p:nvPr/>
        </p:nvSpPr>
        <p:spPr>
          <a:xfrm>
            <a:off x="822960" y="5029200"/>
            <a:ext cx="7314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B4D8"/>
                </a:solidFill>
                <a:effectLst/>
                <a:uFillTx/>
                <a:latin typeface="Cambria"/>
                <a:ea typeface="Cambria"/>
              </a:rPr>
              <a:t>Merci - questions ?</a:t>
            </a:r>
            <a:endParaRPr lang="fr-F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3924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2026-09-04T20:40:28Z</dcterms:created>
  <dc:creator>PptxGenJS</dc:creator>
  <dc:description/>
  <dc:language>fr-FR</dc:language>
  <cp:lastModifiedBy/>
  <dcterms:modified xsi:type="dcterms:W3CDTF">2026-10-27T23:56:48Z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On-screen Show (16:9)</vt:lpwstr>
  </property>
  <property fmtid="{D5CDD505-2E9C-101B-9397-08002B2CF9AE}" pid="4" name="Slides">
    <vt:i4>7</vt:i4>
  </property>
</Properties>
</file>